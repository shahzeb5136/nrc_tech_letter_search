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60" r:id="rId5"/>
    <p:sldId id="262" r:id="rId6"/>
    <p:sldId id="259" r:id="rId7"/>
    <p:sldId id="258" r:id="rId8"/>
    <p:sldId id="264" r:id="rId9"/>
    <p:sldId id="263" r:id="rId10"/>
  </p:sldIdLst>
  <p:sldSz cx="14630400" cy="8229600"/>
  <p:notesSz cx="8229600" cy="14630400"/>
  <p:embeddedFontLst>
    <p:embeddedFont>
      <p:font typeface="Open Sans" panose="020B0606030504020204" pitchFamily="34" charset="0"/>
      <p:regular r:id="rId12"/>
    </p:embeddedFont>
    <p:embeddedFont>
      <p:font typeface="Playfair Display Bold" panose="020B060402020202020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3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84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CDA0-6D8B-4A6A-F8C0-08B2D741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007A9-B826-A162-1611-3651684AE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B931F-3F35-461B-B20D-F61B7E4D7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F4999-322E-2F0D-B29E-2E7E06AF4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68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D1F0-1242-D0B8-9A79-E073CB97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6DAF4-14D3-0893-E803-023C3338A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0ED02-8F6C-DF58-1279-EEB554165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C3B3F-1796-C7A7-D30E-1045CC7AB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79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98CD9-0B08-7F23-9846-E3C7A9BC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97521-3683-1E26-086E-AEE8F8C0D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A425E-9AE1-C435-19F0-8A0B6782C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754A0-F94D-4BAF-1027-B7C80FB739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20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EA4D-BB92-829B-DBF8-90C67650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D82E7-9A80-5658-A81A-FD59E1A05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632F3-9AD7-34E7-9A64-111CD119C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A0404-84BF-299A-7CD0-43FC489BD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26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7622" y="289931"/>
            <a:ext cx="7866578" cy="53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NRC Technical Document Query System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927622" y="890364"/>
            <a:ext cx="10164604" cy="42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AI-Powered Semantic Search for Nuclear Regulatory Policymakers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622" y="1456073"/>
            <a:ext cx="10775156" cy="600920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F2B09178-9B8D-8468-60AC-EE3BFE019D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F77B4-6471-651F-47DA-8DDBF2145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923" y="7743757"/>
            <a:ext cx="2343477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4944" y="741998"/>
            <a:ext cx="2981206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Overview &amp; Mission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4944" y="1105495"/>
            <a:ext cx="8557260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NRC Technical Document Query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454944" y="1758553"/>
            <a:ext cx="11056382" cy="46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AI-Powered Semantic Search for Nuclear Regulatory Compliance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454944" y="2499717"/>
            <a:ext cx="5767626" cy="2401253"/>
          </a:xfrm>
          <a:prstGeom prst="roundRect">
            <a:avLst>
              <a:gd name="adj" fmla="val 115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0205" y="2684978"/>
            <a:ext cx="555903" cy="555903"/>
          </a:xfrm>
          <a:prstGeom prst="roundRect">
            <a:avLst>
              <a:gd name="adj" fmla="val 1644726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93081" y="2837736"/>
            <a:ext cx="250150" cy="250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0205" y="3426142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40205" y="3826669"/>
            <a:ext cx="539710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streamline the retrieval of critical regulatory information from vast libraries of NRC Technical Letters.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07831" y="2499717"/>
            <a:ext cx="5767626" cy="2401253"/>
          </a:xfrm>
          <a:prstGeom prst="roundRect">
            <a:avLst>
              <a:gd name="adj" fmla="val 115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93092" y="2684978"/>
            <a:ext cx="555903" cy="555903"/>
          </a:xfrm>
          <a:prstGeom prst="roundRect">
            <a:avLst>
              <a:gd name="adj" fmla="val 1644726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5968" y="2837736"/>
            <a:ext cx="250150" cy="2501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93092" y="3426142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93092" y="3826669"/>
            <a:ext cx="5397103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keyword searches often fail to capture technical context, leading to "information overload" or missed regulatory requirements.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1454944" y="5086231"/>
            <a:ext cx="5767626" cy="2401253"/>
          </a:xfrm>
          <a:prstGeom prst="roundRect">
            <a:avLst>
              <a:gd name="adj" fmla="val 115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640205" y="5271492"/>
            <a:ext cx="555903" cy="555903"/>
          </a:xfrm>
          <a:prstGeom prst="roundRect">
            <a:avLst>
              <a:gd name="adj" fmla="val 1644726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93081" y="5424249"/>
            <a:ext cx="250150" cy="2501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0205" y="6012656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640205" y="6413183"/>
            <a:ext cx="5397103" cy="88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specialized RAG (Retrieval-Augmented Generation) dashboard that understands natural language queries and maps them to specific document sections.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7407831" y="5086231"/>
            <a:ext cx="5767626" cy="2401253"/>
          </a:xfrm>
          <a:prstGeom prst="roundRect">
            <a:avLst>
              <a:gd name="adj" fmla="val 115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93092" y="5271492"/>
            <a:ext cx="555903" cy="555903"/>
          </a:xfrm>
          <a:prstGeom prst="roundRect">
            <a:avLst>
              <a:gd name="adj" fmla="val 16447268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5968" y="5424249"/>
            <a:ext cx="250150" cy="2501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93092" y="6012656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Target Documents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93092" y="6413183"/>
            <a:ext cx="539710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Letters (GL), Information Notices (IN), Bulletins (BL), and Regulatory Issue Summaries (RIS).</a:t>
            </a:r>
            <a:endParaRPr lang="en-US" sz="14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3BE808-A8C9-30CB-830A-A030A8A115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86923" y="7743757"/>
            <a:ext cx="2343477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C800-3E06-E30D-42B8-FCB2E5C38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AE14999-9E2A-0F36-DE0B-E9D5A9B19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8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795" y="683062"/>
            <a:ext cx="6789539" cy="6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Experience &amp; UI Features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219795" y="1245036"/>
            <a:ext cx="12190809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19795" y="1842492"/>
            <a:ext cx="3023592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Semantic Search Input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19795" y="2492930"/>
            <a:ext cx="12190809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language processing that handles complex queries (e.g., "stress corrosion cracking in austenitic stainless steel").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9795" y="3090386"/>
            <a:ext cx="3208615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Interactive Result Cards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19795" y="3740824"/>
            <a:ext cx="12190809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Hierarchy:</a:t>
            </a: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Teal and Green color coding for document names and section headers.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19795" y="4116585"/>
            <a:ext cx="12190809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Context Banners:</a:t>
            </a: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Gold-accented warnings to remind users to validate AI insights against the source text.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9795" y="4714041"/>
            <a:ext cx="3885009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Integrated Document Access:</a:t>
            </a:r>
            <a:endParaRPr lang="en-US" sz="2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795" y="5364479"/>
            <a:ext cx="481846" cy="48184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9795" y="6087189"/>
            <a:ext cx="291857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Viewer Integration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19795" y="6504027"/>
            <a:ext cx="390298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One-click "Open in System Viewer" for Windows environments.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3647" y="5364479"/>
            <a:ext cx="481846" cy="48184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3647" y="6087189"/>
            <a:ext cx="24092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Direct Download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5363647" y="6504027"/>
            <a:ext cx="390298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Embedded PDF download functionality for offline review.</a:t>
            </a:r>
            <a:endParaRPr lang="en-US" sz="15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7498" y="5364479"/>
            <a:ext cx="481846" cy="48184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7498" y="6087189"/>
            <a:ext cx="24092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Advanced Debugging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507498" y="6504027"/>
            <a:ext cx="390298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Expandable "Raw Chunks" section for power users to verify the RAG source data.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E6349C-6279-A319-0D5B-807605AAED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6923" y="7743757"/>
            <a:ext cx="2343477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B9DD-CB06-CDA6-FC3C-C67AFD7C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2FA26-52FA-5FBB-A6CC-C6A5CD83E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7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6574" y="691634"/>
            <a:ext cx="564963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Intelligent Retrieval-Augmented Generation (RAG)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166574" y="1073110"/>
            <a:ext cx="5985748" cy="607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AI Processing Pipeline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574" y="1972151"/>
            <a:ext cx="4099084" cy="7775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60884" y="2944058"/>
            <a:ext cx="3240643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Enhanced System Prompting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60884" y="3364349"/>
            <a:ext cx="3710464" cy="1243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engine is instructed to act as a technical nuclear regulatory assistant, prioritizing document names and section numbers.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658" y="1972151"/>
            <a:ext cx="4099084" cy="7775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59968" y="2944058"/>
            <a:ext cx="3401258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Extraction &amp; Structuring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5459968" y="3364349"/>
            <a:ext cx="3710464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Processing retrieved information into structured, actionable insights.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4742" y="1972151"/>
            <a:ext cx="4099084" cy="7775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59052" y="2944058"/>
            <a:ext cx="243018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JSON Enforcement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9559052" y="3364349"/>
            <a:ext cx="3710464" cy="932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 output formatting ensures the UI can dynamically render cards, tabs, and download links without parsing errors.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139904" y="4858465"/>
            <a:ext cx="4167664" cy="364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Extraction &amp; Structuring:</a:t>
            </a:r>
            <a:endParaRPr lang="en-US" sz="2250" dirty="0"/>
          </a:p>
        </p:txBody>
      </p:sp>
      <p:sp>
        <p:nvSpPr>
          <p:cNvPr id="14" name="Shape 9"/>
          <p:cNvSpPr/>
          <p:nvPr/>
        </p:nvSpPr>
        <p:spPr>
          <a:xfrm>
            <a:off x="1139904" y="5514500"/>
            <a:ext cx="3969544" cy="1787604"/>
          </a:xfrm>
          <a:prstGeom prst="roundRect">
            <a:avLst>
              <a:gd name="adj" fmla="val 6138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1117044" y="5514500"/>
            <a:ext cx="91440" cy="1787604"/>
          </a:xfrm>
          <a:prstGeom prst="roundRect">
            <a:avLst>
              <a:gd name="adj" fmla="val 31894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425654" y="5731670"/>
            <a:ext cx="3268861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Detailed Relevance Summary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425654" y="6151960"/>
            <a:ext cx="3466624" cy="932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3-5 sentences explaining </a:t>
            </a:r>
            <a:r>
              <a:rPr lang="en-US" sz="150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</a:t>
            </a: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section matters to the specific user query.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303758" y="5514500"/>
            <a:ext cx="3969544" cy="1787604"/>
          </a:xfrm>
          <a:prstGeom prst="roundRect">
            <a:avLst>
              <a:gd name="adj" fmla="val 6138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280898" y="5514500"/>
            <a:ext cx="91440" cy="1787604"/>
          </a:xfrm>
          <a:prstGeom prst="roundRect">
            <a:avLst>
              <a:gd name="adj" fmla="val 31894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589508" y="5731670"/>
            <a:ext cx="243018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Excerpts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5589508" y="6151960"/>
            <a:ext cx="3466624" cy="932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Direct, verbatim quotes from the source PDF to ensure regulatory accuracy.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9467612" y="5514500"/>
            <a:ext cx="3969544" cy="1787604"/>
          </a:xfrm>
          <a:prstGeom prst="roundRect">
            <a:avLst>
              <a:gd name="adj" fmla="val 6138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444752" y="5514500"/>
            <a:ext cx="91440" cy="1787604"/>
          </a:xfrm>
          <a:prstGeom prst="roundRect">
            <a:avLst>
              <a:gd name="adj" fmla="val 31894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753362" y="5731670"/>
            <a:ext cx="243018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Context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9753362" y="6151960"/>
            <a:ext cx="3466624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AI-generated insight into the broader significance of the found data.</a:t>
            </a:r>
            <a:endParaRPr lang="en-US" sz="15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CA3E70D-FB7D-F437-D310-138453C40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6923" y="7743757"/>
            <a:ext cx="2343477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3921" y="753070"/>
            <a:ext cx="343281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Architecture &amp; Integration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843921" y="1092518"/>
            <a:ext cx="4534138" cy="540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43921" y="2065615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Frontend &amp; Interface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43921" y="2563058"/>
            <a:ext cx="5260181" cy="83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Interface: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Built with </a:t>
            </a: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Streamlit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featuring a custom "Corporate Deep Teal" theme and high-contrast CSS for professional technical environments.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843921" y="3453646"/>
            <a:ext cx="5260181" cy="83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 Indexing: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Powered by </a:t>
            </a:r>
            <a:r>
              <a:rPr lang="en-US" sz="13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LlamaCloudIndex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managing document embeddings and metadata for precise similarity matching.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843921" y="4344233"/>
            <a:ext cx="5260181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Model: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GPT-4o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Selected for its reasoning capabilities and precision in structured JSON extraction.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33680" y="2065615"/>
            <a:ext cx="3363158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Configuration &amp; Processing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33680" y="2563058"/>
            <a:ext cx="5260181" cy="83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Temperature Setting: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0.1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Set to a low value to prioritize factual accuracy and consistency while minimizing creative variance.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33680" y="3453646"/>
            <a:ext cx="5260181" cy="110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Retrieval Depth (Top K):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The system retrieves the top 5 most relevant document nodes per query to ensure comprehensive context without exceeding the context window.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33680" y="4620935"/>
            <a:ext cx="5260181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Response Format: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 JSON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Forced output schema to ensure seamless integration with the Streamlit frontend.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843921" y="5515840"/>
            <a:ext cx="10942439" cy="29170"/>
          </a:xfrm>
          <a:prstGeom prst="rect">
            <a:avLst/>
          </a:prstGeom>
          <a:solidFill>
            <a:srgbClr val="39393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43921" y="5739527"/>
            <a:ext cx="172998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843921" y="6010632"/>
            <a:ext cx="5384721" cy="2286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43921" y="6142792"/>
            <a:ext cx="2162532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Similarity Engine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43921" y="6516767"/>
            <a:ext cx="5384721" cy="553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LlamaCloudIndex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Utilized for semantic vector search across the "nrc" project and organization-specific indices.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01639" y="5739527"/>
            <a:ext cx="172998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01639" y="6010632"/>
            <a:ext cx="5384721" cy="2286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1639" y="6142792"/>
            <a:ext cx="2230874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Contextual Grounding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01639" y="6516767"/>
            <a:ext cx="5384721" cy="83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Prompt Engineering</a:t>
            </a:r>
            <a:r>
              <a:rPr lang="en-US" sz="13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Specific instructions used to force the identification of document names, section numbers, and technical excerpts from the retrieved metadata.</a:t>
            </a:r>
            <a:endParaRPr lang="en-US" sz="13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3FBA543-B587-97E9-353F-18C832C6B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923" y="7743757"/>
            <a:ext cx="2343477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74F45-C7FE-96DF-90AB-46AFA7B83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FF9D0943-0B9F-4C33-E054-4C868802C47D}"/>
              </a:ext>
            </a:extLst>
          </p:cNvPr>
          <p:cNvSpPr/>
          <p:nvPr/>
        </p:nvSpPr>
        <p:spPr>
          <a:xfrm>
            <a:off x="569538" y="272933"/>
            <a:ext cx="3149419" cy="121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</a:t>
            </a:r>
          </a:p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FF428-5D18-7B96-7F1E-9E67C418537D}"/>
              </a:ext>
            </a:extLst>
          </p:cNvPr>
          <p:cNvSpPr txBox="1"/>
          <p:nvPr/>
        </p:nvSpPr>
        <p:spPr>
          <a:xfrm>
            <a:off x="5734604" y="878639"/>
            <a:ext cx="5103725" cy="401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High Level Flow </a:t>
            </a:r>
            <a:r>
              <a:rPr lang="en-US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</a:rPr>
              <a:t>Diagram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B3272-5A36-9394-D0F9-C988B6878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4485"/>
            <a:ext cx="14630400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7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A51D-DB21-2867-D257-9FA4B091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DB931B-7DC1-0F36-C580-CEE8C38D6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299" y="0"/>
            <a:ext cx="11155101" cy="82296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98A9089-CCDD-B5CD-30C7-8B594CEE8003}"/>
              </a:ext>
            </a:extLst>
          </p:cNvPr>
          <p:cNvSpPr/>
          <p:nvPr/>
        </p:nvSpPr>
        <p:spPr>
          <a:xfrm>
            <a:off x="209338" y="563601"/>
            <a:ext cx="3149419" cy="121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</a:t>
            </a:r>
          </a:p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11CCF4-2670-9E82-890C-7F2D52924C2C}"/>
              </a:ext>
            </a:extLst>
          </p:cNvPr>
          <p:cNvSpPr txBox="1"/>
          <p:nvPr/>
        </p:nvSpPr>
        <p:spPr>
          <a:xfrm>
            <a:off x="144022" y="1950802"/>
            <a:ext cx="3149419" cy="73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Flow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</a:rPr>
              <a:t>Diagram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09186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550</Words>
  <Application>Microsoft Office PowerPoint</Application>
  <PresentationFormat>Custom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Playfair Display Bold</vt:lpstr>
      <vt:lpstr>Playfair Display Light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Shahzeb Yousuf</cp:lastModifiedBy>
  <cp:revision>5</cp:revision>
  <dcterms:created xsi:type="dcterms:W3CDTF">2026-01-18T13:48:01Z</dcterms:created>
  <dcterms:modified xsi:type="dcterms:W3CDTF">2026-01-24T11:25:25Z</dcterms:modified>
</cp:coreProperties>
</file>